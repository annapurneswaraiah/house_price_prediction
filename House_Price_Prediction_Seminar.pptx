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IN" sz="1300" b="0" i="0" u="none" strike="noStrike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vs Test R²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R²</c:v>
                </c:pt>
              </c:strCache>
            </c:strRef>
          </c:tx>
          <c:spPr>
            <a:solidFill>
              <a:srgbClr val="1B3A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Ridge (α=0.01)</c:v>
                </c:pt>
                <c:pt idx="2">
                  <c:v>Lasso (α=0.01)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93.36</c:v>
                </c:pt>
                <c:pt idx="1">
                  <c:v>93.36</c:v>
                </c:pt>
                <c:pt idx="2">
                  <c:v>93.36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14-4E9C-BC19-AF817ED5AB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Ridge (α=0.01)</c:v>
                </c:pt>
                <c:pt idx="2">
                  <c:v>Lasso (α=0.01)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88.79</c:v>
                </c:pt>
                <c:pt idx="1">
                  <c:v>88.78</c:v>
                </c:pt>
                <c:pt idx="2">
                  <c:v>88.8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14-4E9C-BC19-AF817ED5AB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DE3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IN" sz="1000" b="0" i="0" u="none" strike="noStrike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R²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en-IN" sz="1300" b="0" i="0" u="none" strike="noStrike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vs Validation R²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R²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(raw price)</c:v>
                </c:pt>
                <c:pt idx="1">
                  <c:v>Ridge α=10
(log price)</c:v>
                </c:pt>
                <c:pt idx="2">
                  <c:v>Lasso α=0.001
(log price)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93.59</c:v>
                </c:pt>
                <c:pt idx="1">
                  <c:v>91.59</c:v>
                </c:pt>
                <c:pt idx="2">
                  <c:v>89.94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2-4D49-8BC3-1E66F4949B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R²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(raw price)</c:v>
                </c:pt>
                <c:pt idx="1">
                  <c:v>Ridge α=10
(log price)</c:v>
                </c:pt>
                <c:pt idx="2">
                  <c:v>Lasso α=0.001
(log price)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65.569999999999993</c:v>
                </c:pt>
                <c:pt idx="1">
                  <c:v>89.74</c:v>
                </c:pt>
                <c:pt idx="2">
                  <c:v>89.14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2-4D49-8BC3-1E66F4949B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DE3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000000"/>
                    </a:solidFill>
                    <a:latin typeface="Arial"/>
                  </a:rPr>
                  <a:t>R²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3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640080"/>
            <a:ext cx="5943600" cy="594360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Shape 1"/>
          <p:cNvSpPr/>
          <p:nvPr/>
        </p:nvSpPr>
        <p:spPr>
          <a:xfrm>
            <a:off x="7622471" y="868680"/>
            <a:ext cx="3291840" cy="3291840"/>
          </a:xfrm>
          <a:prstGeom prst="ellipse">
            <a:avLst/>
          </a:prstGeom>
          <a:solidFill>
            <a:srgbClr val="2A9D8F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HOUSE PRICE PREDICTION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Predicting Residential Sale Prices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 Regression Models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We'll Walk Through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973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0020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23957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predict house prices, and what does the dataset look like?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55632" y="1865376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19933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951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Cleaning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95160" y="23957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Handling missing values, duplicates, and outliers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4787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020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Engineering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00200" y="395020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Encoding categorical data &amp; scaling numeric features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0" y="33832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354787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9516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Modeling Approach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395020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Train-test split and three regression algorithms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0235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00200" y="5120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Regularization Theory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00200" y="550468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Ridge (L2) and Lasso (L1) differ from plain Linear Regression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0" y="4937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510235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95160" y="5120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995160" y="550468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comparison, overfitting fix, and final predictions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Predicting Sale Price from Property Characteristics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Given detailed characteristics of a residential property — its size, quality, location, age, and amenities — the goal is to build a regression model that accurately estimates its market Sale Price.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6556" y="306324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a supervised, regression-type ML problem (continuous target, not a class label)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estate pricing is influenced by dozens of interacting factors — a good use case for multivariate regression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Objective: minimize prediction error and maximize R² (variance explained) on unseen data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0" y="1600200"/>
            <a:ext cx="4709160" cy="4206240"/>
          </a:xfrm>
          <a:prstGeom prst="roundRect">
            <a:avLst>
              <a:gd name="adj" fmla="val 2174"/>
            </a:avLst>
          </a:prstGeom>
          <a:solidFill>
            <a:srgbClr val="1329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AT A GLANCE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0" y="2423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1,460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0" y="2532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records (houses sold)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1,459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69680" y="33558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records to predict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79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69680" y="4178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Explanatory features per house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0" y="4892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69680" y="50017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variable — SalePrice ($)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DATASET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Ames Housing Dataset — Feature Composition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79 predictor columns describing almost every aspect of a residential home, split across four broad groups: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500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585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 — Size &amp; Space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LotArea, GrLivArea, TotalBsmtSF, 1stFlrSF, GarageArea, bedrooms, bathrooms, rooms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73075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36 columns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3500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2585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 — Time &amp; Quality Scores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72200" y="2715768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YearBuilt, YearRemodAdd, OverallQual, OverallCond, GarageYrBlt, MoSold / YrSold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2200" y="373075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included above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902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988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 — Nominal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956048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Neighborhood, RoofStyle, Exterior, SaleType, BldgType, HouseStyle, Foundation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597103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43 columns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0" y="43891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45902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4988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 — Ordinal / Quality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72200" y="4956048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ExterQual, KitchenQual, BsmtQual, GarageFinish, FireplaceQu — quality ratings coded as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72200" y="597103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included above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 · DATA CLEANING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Handling Missing Values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 columns contain missing entries. Rather than dropping rows, missing values are imputed to preserve every record: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MISSING COLUMNS (of 1,460 rows)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PoolQC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65960" y="2569464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2569464"/>
            <a:ext cx="3474720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5513832" y="251460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1453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898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MiscFeature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65960" y="2953512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2953512"/>
            <a:ext cx="3362324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513832" y="28986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1406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Alley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965960" y="3337560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965960" y="3337560"/>
            <a:ext cx="3273841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513832" y="32826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1369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6667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65960" y="3721608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5960" y="3721608"/>
            <a:ext cx="2819473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5513832" y="366674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1179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40507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MasVnrType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965960" y="4105656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24" name="Shape 22"/>
          <p:cNvSpPr/>
          <p:nvPr/>
        </p:nvSpPr>
        <p:spPr>
          <a:xfrm>
            <a:off x="1965960" y="4105656"/>
            <a:ext cx="2085310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5513832" y="40507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872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FireplaceQu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965960" y="4489704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28" name="Shape 26"/>
          <p:cNvSpPr/>
          <p:nvPr/>
        </p:nvSpPr>
        <p:spPr>
          <a:xfrm>
            <a:off x="1965960" y="4489704"/>
            <a:ext cx="1650074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5513832" y="443484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690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818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LotFrontage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965960" y="4873752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32" name="Shape 30"/>
          <p:cNvSpPr/>
          <p:nvPr/>
        </p:nvSpPr>
        <p:spPr>
          <a:xfrm>
            <a:off x="1965960" y="4873752"/>
            <a:ext cx="619375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5513832" y="481888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52029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GarageType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965960" y="5257800"/>
            <a:ext cx="3474720" cy="219456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36" name="Shape 34"/>
          <p:cNvSpPr/>
          <p:nvPr/>
        </p:nvSpPr>
        <p:spPr>
          <a:xfrm>
            <a:off x="1965960" y="5257800"/>
            <a:ext cx="193704" cy="21945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5513832" y="52029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0" y="214884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3293D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IMPUTATION STRATEGY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720840" y="28803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78040" y="2852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 columns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178040" y="31363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Fill with the column median — robust to skew and outliers (e.g. LotFrontage, MasVnrArea)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720840" y="38404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178040" y="38130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 columns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178040" y="409651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Fill with the column mode (most frequent category) — keeps the dominant class distribution intact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720840" y="4800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49" name="Text 47"/>
          <p:cNvSpPr/>
          <p:nvPr/>
        </p:nvSpPr>
        <p:spPr>
          <a:xfrm>
            <a:off x="672084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178040" y="4773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→ Test consistency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178040" y="505663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set is imputed using statistics learned from the training set, avoiding data leakage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2 · DATA CLEANING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Outlier Treatment with the IQR Method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Boxplots of the numeric features revealed extreme values (e.g. very large LotArea or BsmtFinSF1). These are capped — not deleted — using the Interquartile Range (IQR) rule, so no data is lost while extreme leverage points are tamed.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RULE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Q1 = 25th percentile,  Q3 = 75th percentile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IQR = Q3 − Q1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Lower bound = Q1 − 1.5 × IQR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Upper bound = Q3 + 1.5 × IQR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166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Any value outside [lower, upper] is clipped (not removed) to the nearest bound — applied to every numeric feature except the target, SalePrice.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0" y="2514600"/>
            <a:ext cx="5715000" cy="3383280"/>
          </a:xfrm>
          <a:prstGeom prst="roundRect">
            <a:avLst>
              <a:gd name="adj" fmla="val 2703"/>
            </a:avLst>
          </a:prstGeom>
          <a:solidFill>
            <a:srgbClr val="1329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7249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CAP INSTEAD OF DELETE?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3154680"/>
            <a:ext cx="5120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Preserves every training record — no sample size loss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the influence of extreme, possibly erroneous values on the fitted coefficients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 models are sensitive to leverage points; capping stabilizes the regression line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Cleaner boxplots after treatment confirm the spread is now more uniform across features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3 · FEATURE ENGINEERING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Encoding &amp; Scaling for a Linear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 models need every input as a number, and comparable in scale. Two transformations bridge that gap: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F4F6F8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One-Hot Encoding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0876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 → binary columns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categorical column (e.g. Neighborhood, RoofStyle) is expanded into one binary 0/1 column per category.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OneHotEncoder(handle_unknown='ignore') / pd.get_dummies(drop_first=True)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drop_first avoids the 'dummy variable trap' (perfect multicollinearity)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handle_unknown='ignore' lets unseen test categories pass through safely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52160" y="214884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F4F6F8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 Scaling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1228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 → zero mean, unit variance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26480" y="32004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 columns are rescaled so no single large-magnitude feature (like LotArea) dominates the model purely due to units.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41148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z = (x − mean) / standard deviation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Applied after encoding, across the full feature matrix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Especially important for Ridge/Lasso, whose penalty is scale-sensitive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4 · MODELING APPROACH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/ Test Split &amp; Evaluation Metric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6661" y="178308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24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 (X)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71166" y="2286000"/>
            <a:ext cx="144018" cy="0"/>
          </a:xfrm>
          <a:prstGeom prst="line">
            <a:avLst/>
          </a:prstGeom>
          <a:noFill/>
          <a:ln w="19050">
            <a:solidFill>
              <a:srgbClr val="4453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63190" y="178308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240">
            <a:solidFill>
              <a:srgbClr val="D7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3190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Encode +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85716" y="2286000"/>
            <a:ext cx="144018" cy="0"/>
          </a:xfrm>
          <a:prstGeom prst="line">
            <a:avLst/>
          </a:prstGeom>
          <a:noFill/>
          <a:ln w="19050">
            <a:solidFill>
              <a:srgbClr val="4453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77740" y="178308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240">
            <a:solidFill>
              <a:srgbClr val="D7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7740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/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Split (80/20)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00266" y="2286000"/>
            <a:ext cx="144018" cy="0"/>
          </a:xfrm>
          <a:prstGeom prst="line">
            <a:avLst/>
          </a:prstGeom>
          <a:noFill/>
          <a:ln w="19050">
            <a:solidFill>
              <a:srgbClr val="4453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16293" y="178308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24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2290" y="1783080"/>
            <a:ext cx="1874520" cy="10058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 Model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814816" y="2286000"/>
            <a:ext cx="144018" cy="0"/>
          </a:xfrm>
          <a:prstGeom prst="line">
            <a:avLst/>
          </a:prstGeom>
          <a:noFill/>
          <a:ln w="19050">
            <a:solidFill>
              <a:srgbClr val="4453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178308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24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&amp;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 (R²)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5074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TRAIN-TEST SPLIT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80% of rows train the model's coefficients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20% held out, unseen, to test generalization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random_state fixed for reproducibility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train_test_split(X, y, test_size=0.20)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52160" y="3200400"/>
            <a:ext cx="5029200" cy="2697480"/>
          </a:xfrm>
          <a:prstGeom prst="roundRect">
            <a:avLst>
              <a:gd name="adj" fmla="val 339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612648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METRIC: R²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26480" y="3749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(coefficient of determination) measures the proportion of variance in SalePrice explained by the model.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44348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= 1 →  perfect fit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= 0 →  no better than predicting the mean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Compared on Train vs Test to check for overfitting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5 · ALGORITHMS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Members of the Linear Regression Family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429000" cy="109728"/>
          </a:xfrm>
          <a:prstGeom prst="rect">
            <a:avLst/>
          </a:prstGeom>
          <a:solidFill>
            <a:srgbClr val="1B3A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 Regression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min Σ(y − ŷ)²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Fits coefficients purely by minimizing squared error. No penalty on coefficient size — prone to overfitting with many correlated features.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691640"/>
            <a:ext cx="342900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011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Ridge Regression (L2)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0" y="260604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6060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9D8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α·Σβ²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33832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Adds a penalty proportional to the square of coefficients. Shrinks all coefficients toward zero but rarely to exactly zero — reduces variance, keeps every feature.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8096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691640"/>
            <a:ext cx="342900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011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Lasso Regression (L1)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71322" y="260604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6060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5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α·Σ|β|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55280" y="33832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Adds a penalty proportional to the absolute value of coefficients. Can shrink some coefficients exactly to zero — performs automatic feature selection.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Comparison — Cleaned &amp; Scaled Features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Encoded + scaled feature matrix, 80/20 split, evaluated directly on SalePrice: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54643952"/>
              </p:ext>
            </p:extLst>
          </p:nvPr>
        </p:nvGraphicFramePr>
        <p:xfrm>
          <a:off x="468429" y="201168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201168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13293D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C4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THE RESULT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26680" y="260604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three models land almost identically — ~93% train, ~89%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train→test gap (~4.5 pts) shows the outlier-capping and scaling controlled overfitting well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very small α (0.01), Ridge &amp; Lasso behave almost like plain Linear Regression — the penalty is too weak to matter much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Log-Transformed Target Fixes Overfitting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One-hot encoded (no scaling) on the full 1,460-row train set, predicting the official test.csv: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553641035"/>
              </p:ext>
            </p:extLst>
          </p:nvPr>
        </p:nvGraphicFramePr>
        <p:xfrm>
          <a:off x="548640" y="201168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201168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E76F51">
              <a:alpha val="9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26680" y="260604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Plain Linear Regression overfits badly here: 93.6% train but only 65.6% validation R²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Applying log1p() to SalePrice compresses its right-skewed range, easing the fit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Ridge (α=10) on the log target closes the gap: 91.6% train vs 89.7% validation — far more stable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Lasso gives a similar, slightly more conservative result at 89.9% / 89.1%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INTERPRETATION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Regularization Mattered Here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20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Dimensionality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2404872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One-hot encoding expanded 79 raw columns into ~244–288 numeric features — many more predictors than a plain linear model comfortably handles without shrinkage.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20116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0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Skewed Target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99632" y="2404872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SalePrice is right-skewed (a few very expensive homes). log1p() makes its distribution closer to normal, which linear models assume implicitly.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2519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1605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Multicollinearity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672" y="4645152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Many housing features correlate (e.g. GarageArea &amp; GarageCars). Ridge's L2 penalty spreads weight across correlated features instead of amplifying noise.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0" y="40233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42519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1605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Bias–Variance Tradeoff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99632" y="4645152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small validation-R² drop vs a much smaller train–validation gap shows regularization traded a touch of bias for a large reduction in variance.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300" dirty="0">
              <a:solidFill>
                <a:srgbClr val="2A9D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This Project Demonstrates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>
            <a:solidFill>
              <a:schemeClr val="bg1"/>
            </a:solidFill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pipeline matters</a:t>
            </a:r>
            <a:endParaRPr lang="en-US" sz="1550" dirty="0">
              <a:solidFill>
                <a:srgbClr val="2A9D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Missing-value imputation, IQR outlier-capping, encoding, and scaling each measurably affect model quality.</a:t>
            </a:r>
            <a:endParaRPr lang="en-US" sz="125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6974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Regularization</a:t>
            </a:r>
            <a:r>
              <a:rPr lang="en-US" sz="15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automatic</a:t>
            </a:r>
            <a:endParaRPr lang="en-US" sz="1550" dirty="0">
              <a:solidFill>
                <a:srgbClr val="2A9D8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3017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weak α, Ridge/Lasso mimic plain Linear Regression — the strength of α must fit the problem's scale.</a:t>
            </a:r>
            <a:endParaRPr lang="en-US" sz="125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4440" y="3749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transformation is powerful</a:t>
            </a:r>
            <a:endParaRPr lang="en-US" sz="1550" dirty="0">
              <a:solidFill>
                <a:srgbClr val="2A9D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4069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log1p(SalePrice) alone closed a ~28-point train/validation R² gap when combined with Ridge.</a:t>
            </a:r>
            <a:endParaRPr lang="en-US" sz="125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result</a:t>
            </a:r>
            <a:endParaRPr lang="en-US" sz="1550" dirty="0">
              <a:solidFill>
                <a:srgbClr val="2A9D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5120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Ridge Regression (α=10) on log-transformed SalePrice: ~89.7% validation R² — the strongest, most stable model tested.</a:t>
            </a:r>
            <a:endParaRPr lang="en-US" sz="125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78868" y="2597217"/>
            <a:ext cx="28857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1460</Words>
  <Application>Microsoft Office PowerPoint</Application>
  <PresentationFormat>Widescreen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Nandyala Annapurneswaraiah</cp:lastModifiedBy>
  <cp:revision>3</cp:revision>
  <dcterms:created xsi:type="dcterms:W3CDTF">2026-08-04T03:57:45Z</dcterms:created>
  <dcterms:modified xsi:type="dcterms:W3CDTF">2026-08-09T16:55:05Z</dcterms:modified>
</cp:coreProperties>
</file>